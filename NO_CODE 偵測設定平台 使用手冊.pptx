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這份手冊說明如何用 NO_CODE 網頁，為每一支攝影機設定偵測範圍與規則。全程在瀏覽器操作，不需要寫程式。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整個流程只有五步：讀取畫面、選範圍、框選、選功能、儲存。後面每一步都有一頁詳細說明。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左邊是整個網頁，右邊對照每個區塊的用途。上方是讀取畫面與框選，右側是專案設定，最下方是已儲存的專案。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雙擊 run.bat 就會啟動並開啟網頁；請在檔案總管雙擊，在 VS Code 裡點只會打開檔案。Linux 用 ./run.sh，要讓其他電腦連線就加 HOST=0.0.0.0。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讀不到畫面時，先確認網址、帳號密碼，以及這台電腦連得到攝影機。原始畫面若不是 16:9，會被拉伸成 960×540，頁面會顯示提醒。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切換鈕在 RTSP 網址下方。在區域模式畫好的區域，切到全域再切回來還會保留；但用全域儲存時，只會存整張畫面的座標。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可以框任何不規則形狀。一個專案可以有多個區域，例如警戒區和卸貨口分開框。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拖曳時區域會停在畫面邊緣，不會超出 960×540。在區域內點一下不拖動，會開始畫新的區域。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每個功能的參數只在勾選後出現。沒有勾選的功能，參數不會被存進檔案。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至少要選一項裝備才能儲存。照片檔名不分大小寫，Helmet.PNG 也可以。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儲存前網頁會先檢查設定是否完整，缺什麼就會在右下角提示。修改已儲存的專案時，按儲存會顯示「專案已更新」。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正在編輯的專案會在列表中以淺藍色標示，頁面左上角也會顯示「編輯中：專案名稱」。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資料夾裡的 RTSP 網址可能含有攝影機帳號密碼，所以不會上傳到 GitHub。換電腦時要另外複製 data 資料夾。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這一頁給寫偵測程式的人。project_data.py 會讀 data/projects 裡的所有 JSON：projects 一個專案一列，regions 把每個區域拆成一列，points 直接就是座標清單。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最常見的是啟動方式不對，以及攝影機網路連不到。錯誤訊息都是中文，照著處理即可。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每設定完一支攝影機，就用這五項確認一次。全部完成後，偵測程式就能讀取這些設定。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00761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43711"/>
            <a:ext cx="10566400" cy="430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00761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43711"/>
            <a:ext cx="10566400" cy="430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73580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5A5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使用手冊 · USER GUIDE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64740"/>
            <a:ext cx="4787646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4F6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</a:t>
            </a:r>
            <a:endParaRPr lang="en-US" sz="4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4F6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偵測設定平台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83660"/>
            <a:ext cx="478764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ED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用網頁完成攝影機 AI 偵測的範圍與規則設定，不用寫程式。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671060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CED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 年 10 月</a:t>
            </a:r>
            <a:endParaRPr lang="en-US" sz="1200" dirty="0"/>
          </a:p>
        </p:txBody>
      </p:sp>
      <p:pic>
        <p:nvPicPr>
          <p:cNvPr id="6" name="Image 0" descr="平台畫面：在攝影機畫面上框選了警戒區與卸貨口兩個區域">    </p:cNvPr>
          <p:cNvPicPr>
            <a:picLocks noChangeAspect="1"/>
          </p:cNvPicPr>
          <p:nvPr/>
        </p:nvPicPr>
        <p:blipFill>
          <a:blip r:embed="rId1"/>
          <a:srcRect l="-102" r="-102" t="0" b="0"/>
          <a:stretch/>
        </p:blipFill>
        <p:spPr>
          <a:xfrm>
            <a:off x="5924550" y="1676400"/>
            <a:ext cx="5448300" cy="3505200"/>
          </a:xfrm>
          <a:prstGeom prst="roundRect">
            <a:avLst>
              <a:gd name="adj" fmla="val 2717"/>
            </a:avLst>
          </a:prstGeom>
          <a:effectLst>
            <a:outerShdw sx="100000" sy="100000" kx="0" ky="0" algn="bl" rotWithShape="0" blurRad="406400" dist="152400" dir="5400000">
              <a:srgbClr val="000000">
                <a:alpha val="4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921375" y="1673225"/>
            <a:ext cx="5454650" cy="3511550"/>
          </a:xfrm>
          <a:prstGeom prst="roundRect">
            <a:avLst>
              <a:gd name="adj" fmla="val 2803"/>
            </a:avLst>
          </a:prstGeom>
          <a:noFill/>
          <a:ln w="6350">
            <a:solidFill>
              <a:srgbClr val="2C3A5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認識平台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個步驟，完成一支攝影機的偵測設定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97685"/>
            <a:ext cx="1761490" cy="1971040"/>
          </a:xfrm>
          <a:prstGeom prst="roundRect">
            <a:avLst>
              <a:gd name="adj" fmla="val 5588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02790"/>
            <a:ext cx="14528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5680" y="2470150"/>
            <a:ext cx="14528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讀取畫面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5680" y="2820670"/>
            <a:ext cx="145288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輸入 RTSP 網址，擷取一張 960×540 畫面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82240" y="2713355"/>
            <a:ext cx="228600" cy="1397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15615" y="1797685"/>
            <a:ext cx="1761490" cy="1971040"/>
          </a:xfrm>
          <a:prstGeom prst="roundRect">
            <a:avLst>
              <a:gd name="adj" fmla="val 5588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95320" y="2002790"/>
            <a:ext cx="14528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195320" y="2470150"/>
            <a:ext cx="14528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選擇範圍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195320" y="2820670"/>
            <a:ext cx="145288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整張畫面「全域」，或只看框選的「區域」</a:t>
            </a:r>
            <a:endParaRPr lang="en-US" sz="13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81880" y="2713355"/>
            <a:ext cx="228600" cy="139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15255" y="1797685"/>
            <a:ext cx="1761490" cy="1971040"/>
          </a:xfrm>
          <a:prstGeom prst="roundRect">
            <a:avLst>
              <a:gd name="adj" fmla="val 5588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94960" y="2002790"/>
            <a:ext cx="14528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5394960" y="2470150"/>
            <a:ext cx="14528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框選區域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394960" y="2820670"/>
            <a:ext cx="145288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在畫面上點擊畫出多邊形，可以框多個</a:t>
            </a:r>
            <a:endParaRPr lang="en-US" sz="13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81520" y="2713355"/>
            <a:ext cx="228600" cy="1397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14895" y="1797685"/>
            <a:ext cx="1761490" cy="1971040"/>
          </a:xfrm>
          <a:prstGeom prst="roundRect">
            <a:avLst>
              <a:gd name="adj" fmla="val 5588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94600" y="2002790"/>
            <a:ext cx="14528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7594600" y="2470150"/>
            <a:ext cx="14528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選擇功能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594600" y="2820670"/>
            <a:ext cx="145288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電子圍籬、群聚、昏倒、裝備，四選一</a:t>
            </a:r>
            <a:endParaRPr lang="en-US" sz="130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81160" y="2713355"/>
            <a:ext cx="228600" cy="1397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14535" y="1797685"/>
            <a:ext cx="1761490" cy="1971040"/>
          </a:xfrm>
          <a:prstGeom prst="roundRect">
            <a:avLst>
              <a:gd name="adj" fmla="val 5588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794240" y="2002790"/>
            <a:ext cx="14528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9794240" y="2470150"/>
            <a:ext cx="14528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儲存專案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794240" y="2820670"/>
            <a:ext cx="14528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存成 JSON 檔，交給偵測程式使用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12800" y="4127500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每一支攝影機建立一個專案。存好的設定是一個 JSON 檔，偵測程式依照它讀取 RTSP 串流，並在指定範圍內判斷。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812800" y="6238241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1159172" y="6238241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認識平台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601"/>
            <a:ext cx="10883392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畫面總覽</a:t>
            </a:r>
            <a:endParaRPr lang="en-US" sz="3000" dirty="0"/>
          </a:p>
        </p:txBody>
      </p:sp>
      <p:pic>
        <p:nvPicPr>
          <p:cNvPr id="4" name="Image 0" descr="NO_CODE 網頁整頁畫面：上方 RTSP 與框選區，右側專案設定，下方已儲存專案列表">    </p:cNvPr>
          <p:cNvPicPr>
            <a:picLocks noChangeAspect="1"/>
          </p:cNvPicPr>
          <p:nvPr/>
        </p:nvPicPr>
        <p:blipFill>
          <a:blip r:embed="rId1"/>
          <a:srcRect l="0" r="0" t="-42" b="-42"/>
          <a:stretch/>
        </p:blipFill>
        <p:spPr>
          <a:xfrm>
            <a:off x="971550" y="1698704"/>
            <a:ext cx="4152900" cy="4191000"/>
          </a:xfrm>
          <a:prstGeom prst="roundRect">
            <a:avLst>
              <a:gd name="adj" fmla="val 1376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68375" y="1695529"/>
            <a:ext cx="4159250" cy="4197350"/>
          </a:xfrm>
          <a:prstGeom prst="roundRect">
            <a:avLst>
              <a:gd name="adj" fmla="val 1450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6150" y="19844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5A524"/>
          </a:solidFill>
          <a:ln/>
          <a:effectLst>
            <a:outerShdw sx="100000" sy="100000" kx="0" ky="0" algn="bl" rotWithShape="0" blurRad="50800" dist="12700" dir="5400000">
              <a:srgbClr val="121A2B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2200" y="24797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5A524"/>
          </a:solidFill>
          <a:ln/>
          <a:effectLst>
            <a:outerShdw sx="100000" sy="100000" kx="0" ky="0" algn="bl" rotWithShape="0" blurRad="50800" dist="12700" dir="5400000">
              <a:srgbClr val="121A2B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46150" y="42704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5A524"/>
          </a:solidFill>
          <a:ln/>
          <a:effectLst>
            <a:outerShdw sx="100000" sy="100000" kx="0" ky="0" algn="bl" rotWithShape="0" blurRad="50800" dist="12700" dir="5400000">
              <a:srgbClr val="121A2B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10000" y="18828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5A524"/>
          </a:solidFill>
          <a:ln/>
          <a:effectLst>
            <a:outerShdw sx="100000" sy="100000" kx="0" ky="0" algn="bl" rotWithShape="0" blurRad="50800" dist="12700" dir="5400000">
              <a:srgbClr val="121A2B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10000" y="336240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5A524"/>
          </a:solidFill>
          <a:ln/>
          <a:effectLst>
            <a:outerShdw sx="100000" sy="100000" kx="0" ky="0" algn="bl" rotWithShape="0" blurRad="50800" dist="12700" dir="5400000">
              <a:srgbClr val="121A2B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5350" y="502610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5A524"/>
          </a:solidFill>
          <a:ln/>
          <a:effectLst>
            <a:outerShdw sx="100000" sy="100000" kx="0" ky="0" algn="bl" rotWithShape="0" blurRad="50800" dist="12700" dir="5400000">
              <a:srgbClr val="121A2B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169235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F5A52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2800" y="1692354"/>
            <a:ext cx="56509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上方工具列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892800" y="1965404"/>
            <a:ext cx="565099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RTSP 網址、讀取畫面、偵測範圍、框選按鈕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0" y="235148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F5A52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92800" y="2351484"/>
            <a:ext cx="56509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892800" y="2624534"/>
            <a:ext cx="565099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讀取到的 960×540 畫面，在這裡框選區域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301061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F5A52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92800" y="3010615"/>
            <a:ext cx="56509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區域座標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892800" y="3283665"/>
            <a:ext cx="565099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每個區域的頂點座標，可改名、刪除、複製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0" y="366974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F5A52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92800" y="3669745"/>
            <a:ext cx="56509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專案設定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892800" y="3942795"/>
            <a:ext cx="565099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專案名稱、偵測時段、偵測功能與參數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0" y="432887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F5A52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892800" y="4328875"/>
            <a:ext cx="56509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儲存專案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892800" y="4601925"/>
            <a:ext cx="565099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檢查設定是否完整，並存檔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0" y="498800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F5A52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892800" y="4988004"/>
            <a:ext cx="56509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已儲存專案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892800" y="5261054"/>
            <a:ext cx="565099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列出所有專案，可編輯、下載 JSON、刪除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2800" y="6238241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159172" y="6238241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認識平台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啟動網站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696086"/>
            <a:ext cx="5149850" cy="2406650"/>
          </a:xfrm>
          <a:prstGeom prst="roundRect">
            <a:avLst>
              <a:gd name="adj" fmla="val 4090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951991"/>
            <a:ext cx="477718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Windows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37841" y="2383791"/>
            <a:ext cx="470360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8039" indent="-188039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在檔案總管打開 NO_CODE 資料夾，雙擊 run.bat</a:t>
            </a:r>
            <a:endParaRPr lang="en-US" sz="1400" dirty="0"/>
          </a:p>
          <a:p>
            <a:pPr algn="l" marL="188039" indent="-188039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約 3 秒後瀏覽器會自動開啟網頁</a:t>
            </a:r>
            <a:endParaRPr lang="en-US" sz="1400" dirty="0"/>
          </a:p>
          <a:p>
            <a:pPr algn="l" marL="188039" indent="-188039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使用期間不要關閉黑色視窗；按 Ctrl+C 停止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880" y="3437891"/>
            <a:ext cx="4638040" cy="408940"/>
          </a:xfrm>
          <a:prstGeom prst="roundRect">
            <a:avLst>
              <a:gd name="adj" fmla="val 15528"/>
            </a:avLst>
          </a:prstGeom>
          <a:solidFill>
            <a:srgbClr val="E8EDF5"/>
          </a:solidFill>
          <a:ln/>
        </p:spPr>
        <p:txBody>
          <a:bodyPr wrap="square" lIns="108401" tIns="70301" rIns="0" bIns="449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A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http://127.0.0.1:8010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6175" y="1696086"/>
            <a:ext cx="5149850" cy="2406650"/>
          </a:xfrm>
          <a:prstGeom prst="roundRect">
            <a:avLst>
              <a:gd name="adj" fmla="val 4090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2080" y="1951991"/>
            <a:ext cx="477718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Linux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48041" y="2383791"/>
            <a:ext cx="470360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8039" indent="-188039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在專案資料夾執行 ./run.sh</a:t>
            </a:r>
            <a:endParaRPr lang="en-US" sz="1400" dirty="0"/>
          </a:p>
          <a:p>
            <a:pPr algn="l" marL="188039" indent="-188039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讓其他電腦連線：HOST=0.0.0.0 ./run.sh</a:t>
            </a:r>
            <a:endParaRPr lang="en-US" sz="1400" dirty="0"/>
          </a:p>
          <a:p>
            <a:pPr algn="l" marL="188039" indent="-188039">
              <a:lnSpc>
                <a:spcPts val="210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防火牆開放 8010 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82080" y="3437891"/>
            <a:ext cx="4638040" cy="408940"/>
          </a:xfrm>
          <a:prstGeom prst="roundRect">
            <a:avLst>
              <a:gd name="adj" fmla="val 15528"/>
            </a:avLst>
          </a:prstGeom>
          <a:solidFill>
            <a:srgbClr val="E8EDF5"/>
          </a:solidFill>
          <a:ln/>
        </p:spPr>
        <p:txBody>
          <a:bodyPr wrap="square" lIns="108401" tIns="70301" rIns="0" bIns="449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A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http://&lt;這台電腦的 IP&gt;:8010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4363086"/>
            <a:ext cx="10560050" cy="803910"/>
          </a:xfrm>
          <a:prstGeom prst="roundRect">
            <a:avLst>
              <a:gd name="adj" fmla="val 10664"/>
            </a:avLst>
          </a:prstGeom>
          <a:solidFill>
            <a:srgbClr val="FFF6E5"/>
          </a:solidFill>
          <a:ln w="6350">
            <a:solidFill>
              <a:srgbClr val="F3D9A4"/>
            </a:solidFill>
            <a:prstDash val="solid"/>
          </a:ln>
        </p:spPr>
      </p:sp>
      <p:pic>
        <p:nvPicPr>
          <p:cNvPr id="13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4638041"/>
            <a:ext cx="254000" cy="254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02080" y="4517391"/>
            <a:ext cx="1006190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C421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第一次使用前先安裝套件：pip install -r requirements.txt（Linux 請用虛擬環境）。網頁沒有登入機制，開放給其他電腦時只建議在內網使用。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9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59172" y="6238239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步驟 1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讀取 RTSP 畫面</a:t>
            </a:r>
            <a:endParaRPr lang="en-US" sz="3000" dirty="0"/>
          </a:p>
        </p:txBody>
      </p:sp>
      <p:pic>
        <p:nvPicPr>
          <p:cNvPr id="4" name="Image 0" descr="RTSP 網址欄位與讀取畫面按鈕，下方顯示擷取到的倉庫畫面">    </p:cNvPr>
          <p:cNvPicPr>
            <a:picLocks noChangeAspect="1"/>
          </p:cNvPicPr>
          <p:nvPr/>
        </p:nvPicPr>
        <p:blipFill>
          <a:blip r:embed="rId1"/>
          <a:srcRect l="-55" r="-55" t="0" b="0"/>
          <a:stretch/>
        </p:blipFill>
        <p:spPr>
          <a:xfrm>
            <a:off x="819150" y="1699261"/>
            <a:ext cx="5391150" cy="4051300"/>
          </a:xfrm>
          <a:prstGeom prst="roundRect">
            <a:avLst>
              <a:gd name="adj" fmla="val 1724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6"/>
            <a:ext cx="5397500" cy="4057650"/>
          </a:xfrm>
          <a:prstGeom prst="roundRect">
            <a:avLst>
              <a:gd name="adj" fmla="val 1800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72250" y="169291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78650" y="1692911"/>
            <a:ext cx="453256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輸入 RTSP 網址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78650" y="1995171"/>
            <a:ext cx="4532567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rtsp://帳號:密碼@IP:554/路徑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72250" y="23939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78650" y="2393950"/>
            <a:ext cx="453256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按「讀取畫面」或 Enter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78650" y="2696211"/>
            <a:ext cx="4532567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伺服器用 OpenCV 連線，擷取一張畫面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72250" y="3113407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78650" y="3113407"/>
            <a:ext cx="453256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自動縮放為 960×540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78650" y="3415664"/>
            <a:ext cx="4532567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之後所有座標都以這個尺寸為準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75425" y="3836036"/>
            <a:ext cx="4800600" cy="1134110"/>
          </a:xfrm>
          <a:prstGeom prst="roundRect">
            <a:avLst>
              <a:gd name="adj" fmla="val 7559"/>
            </a:avLst>
          </a:prstGeom>
          <a:solidFill>
            <a:srgbClr val="E8F0FE"/>
          </a:solidFill>
          <a:ln w="6350">
            <a:solidFill>
              <a:srgbClr val="C7D7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55130" y="4015739"/>
            <a:ext cx="45744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沒有攝影機也能測試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55130" y="4297682"/>
            <a:ext cx="4574426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632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 test_rtsp\start_test_rtsp.bat，再填入：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55130" y="4569461"/>
            <a:ext cx="4574426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632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rtsp://127.0.0.1:8554/test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39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59172" y="6238239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步驟 2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選擇偵測範圍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92911"/>
            <a:ext cx="609600" cy="281940"/>
          </a:xfrm>
          <a:custGeom>
            <a:avLst/>
            <a:gdLst/>
            <a:ahLst/>
            <a:cxnLst/>
            <a:rect l="l" t="t" r="r" b="b"/>
            <a:pathLst>
              <a:path w="609600" h="281940">
                <a:moveTo>
                  <a:pt x="140970" y="0"/>
                </a:moveTo>
                <a:lnTo>
                  <a:pt x="468630" y="0"/>
                </a:lnTo>
                <a:arcTo hR="140970" wR="140970" stAng="16200000" swAng="5400000"/>
                <a:lnTo>
                  <a:pt x="609600" y="140970"/>
                </a:lnTo>
                <a:arcTo hR="140970" wR="140970" stAng="0" swAng="5400000"/>
                <a:lnTo>
                  <a:pt x="140970" y="281940"/>
                </a:lnTo>
                <a:arcTo hR="140970" wR="140970" stAng="5400000" swAng="5400000"/>
                <a:lnTo>
                  <a:pt x="0" y="140970"/>
                </a:lnTo>
                <a:arcTo hR="140970" wR="14097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24000" y="1701800"/>
            <a:ext cx="17068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整張畫面都偵測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076450"/>
            <a:ext cx="5232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座標固定為 (0,0)–(960,540)，不能框選</a:t>
            </a:r>
            <a:endParaRPr lang="en-US" sz="1300" dirty="0"/>
          </a:p>
        </p:txBody>
      </p:sp>
      <p:pic>
        <p:nvPicPr>
          <p:cNvPr id="7" name="Image 0" descr="全域模式：整張畫面加上藍框並標示全域偵測，框選按鈕停用">    </p:cNvPr>
          <p:cNvPicPr>
            <a:picLocks noChangeAspect="1"/>
          </p:cNvPicPr>
          <p:nvPr/>
        </p:nvPicPr>
        <p:blipFill>
          <a:blip r:embed="rId1"/>
          <a:srcRect l="-55" r="-55" t="0" b="0"/>
          <a:stretch/>
        </p:blipFill>
        <p:spPr>
          <a:xfrm>
            <a:off x="819150" y="2415539"/>
            <a:ext cx="4940300" cy="3181350"/>
          </a:xfrm>
          <a:prstGeom prst="roundRect">
            <a:avLst>
              <a:gd name="adj" fmla="val 2196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815975" y="2412364"/>
            <a:ext cx="4946650" cy="3187700"/>
          </a:xfrm>
          <a:prstGeom prst="roundRect">
            <a:avLst>
              <a:gd name="adj" fmla="val 2291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99200" y="1692911"/>
            <a:ext cx="609600" cy="281940"/>
          </a:xfrm>
          <a:custGeom>
            <a:avLst/>
            <a:gdLst/>
            <a:ahLst/>
            <a:cxnLst/>
            <a:rect l="l" t="t" r="r" b="b"/>
            <a:pathLst>
              <a:path w="609600" h="281940">
                <a:moveTo>
                  <a:pt x="140970" y="0"/>
                </a:moveTo>
                <a:lnTo>
                  <a:pt x="468630" y="0"/>
                </a:lnTo>
                <a:arcTo hR="140970" wR="140970" stAng="16200000" swAng="5400000"/>
                <a:lnTo>
                  <a:pt x="609600" y="140970"/>
                </a:lnTo>
                <a:arcTo hR="140970" wR="140970" stAng="0" swAng="5400000"/>
                <a:lnTo>
                  <a:pt x="140970" y="281940"/>
                </a:lnTo>
                <a:arcTo hR="140970" wR="140970" stAng="5400000" swAng="5400000"/>
                <a:lnTo>
                  <a:pt x="0" y="140970"/>
                </a:lnTo>
                <a:arcTo hR="140970" wR="14097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區域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10400" y="1701800"/>
            <a:ext cx="1950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只偵測框選的位置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99200" y="2076450"/>
            <a:ext cx="5232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可框多個；新專案預設為全域，要框圖請先切到「區域」</a:t>
            </a:r>
            <a:endParaRPr lang="en-US" sz="1300" dirty="0"/>
          </a:p>
        </p:txBody>
      </p:sp>
      <p:pic>
        <p:nvPicPr>
          <p:cNvPr id="12" name="Image 1" descr="區域模式：畫面上框選了警戒區與卸貨口兩個多邊形">    </p:cNvPr>
          <p:cNvPicPr>
            <a:picLocks noChangeAspect="1"/>
          </p:cNvPicPr>
          <p:nvPr/>
        </p:nvPicPr>
        <p:blipFill>
          <a:blip r:embed="rId2"/>
          <a:srcRect l="-55" r="-55" t="0" b="0"/>
          <a:stretch/>
        </p:blipFill>
        <p:spPr>
          <a:xfrm>
            <a:off x="6305550" y="2415539"/>
            <a:ext cx="4940300" cy="3181350"/>
          </a:xfrm>
          <a:prstGeom prst="roundRect">
            <a:avLst>
              <a:gd name="adj" fmla="val 2196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13" name="Shape 9"/>
          <p:cNvSpPr/>
          <p:nvPr/>
        </p:nvSpPr>
        <p:spPr>
          <a:xfrm>
            <a:off x="6302375" y="2412364"/>
            <a:ext cx="4946650" cy="3187700"/>
          </a:xfrm>
          <a:prstGeom prst="roundRect">
            <a:avLst>
              <a:gd name="adj" fmla="val 2291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2800" y="6238239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159172" y="6238239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步驟 3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框選區域</a:t>
            </a:r>
            <a:endParaRPr lang="en-US" sz="3000" dirty="0"/>
          </a:p>
        </p:txBody>
      </p:sp>
      <p:pic>
        <p:nvPicPr>
          <p:cNvPr id="4" name="Image 0" descr="繪製中：卸貨口周圍的黃色虛線正在畫，警戒區已完成">    </p:cNvPr>
          <p:cNvPicPr>
            <a:picLocks noChangeAspect="1"/>
          </p:cNvPicPr>
          <p:nvPr/>
        </p:nvPicPr>
        <p:blipFill>
          <a:blip r:embed="rId1"/>
          <a:srcRect l="-42" r="-42" t="0" b="0"/>
          <a:stretch/>
        </p:blipFill>
        <p:spPr>
          <a:xfrm>
            <a:off x="819150" y="1699261"/>
            <a:ext cx="6210300" cy="3714750"/>
          </a:xfrm>
          <a:prstGeom prst="roundRect">
            <a:avLst>
              <a:gd name="adj" fmla="val 1880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6"/>
            <a:ext cx="6216650" cy="3721100"/>
          </a:xfrm>
          <a:prstGeom prst="roundRect">
            <a:avLst>
              <a:gd name="adj" fmla="val 1962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91400" y="1692911"/>
            <a:ext cx="3987800" cy="2110740"/>
          </a:xfrm>
          <a:prstGeom prst="rect">
            <a:avLst/>
          </a:prstGeom>
          <a:solidFill>
            <a:srgbClr val="FDFEFF"/>
          </a:solidFill>
          <a:ln/>
        </p:spPr>
      </p:sp>
      <p:sp>
        <p:nvSpPr>
          <p:cNvPr id="7" name="Shape 4"/>
          <p:cNvSpPr/>
          <p:nvPr/>
        </p:nvSpPr>
        <p:spPr>
          <a:xfrm>
            <a:off x="11376025" y="1692911"/>
            <a:ext cx="0" cy="211074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1400" y="3800476"/>
            <a:ext cx="39878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1560" y="1703071"/>
          <a:ext cx="3972560" cy="2095500"/>
        </p:xfrm>
        <a:graphic>
          <a:graphicData uri="http://schemas.openxmlformats.org/drawingml/2006/table">
            <a:tbl>
              <a:tblPr/>
              <a:tblGrid>
                <a:gridCol w="1509573"/>
                <a:gridCol w="2462987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操作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做法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新增頂點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在畫面上點擊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完成區域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點第一個點或按 Enter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復原上一點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Backspace 或滑鼠右鍵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取消繪製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Esc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391400" y="3981450"/>
            <a:ext cx="410743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黃色虛線是正在畫的區域；完成後變成彩色區塊，並自動命名為「區域1」「區域2」…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91400" y="4654550"/>
            <a:ext cx="410743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至少要 3 個點</a:t>
            </a: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才能完成一個區域。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2800" y="6238239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159172" y="6238239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步驟 3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調整與管理區域</a:t>
            </a:r>
            <a:endParaRPr lang="en-US" sz="3000" dirty="0"/>
          </a:p>
        </p:txBody>
      </p:sp>
      <p:pic>
        <p:nvPicPr>
          <p:cNvPr id="4" name="Image 0" descr="區域座標列表：警戒區與卸貨口各自的頂點座標，下方是可複製的 JSON 座標">    </p:cNvPr>
          <p:cNvPicPr>
            <a:picLocks noChangeAspect="1"/>
          </p:cNvPicPr>
          <p:nvPr/>
        </p:nvPicPr>
        <p:blipFill>
          <a:blip r:embed="rId1"/>
          <a:srcRect l="-166" r="-166" t="0" b="0"/>
          <a:stretch/>
        </p:blipFill>
        <p:spPr>
          <a:xfrm>
            <a:off x="819150" y="1699261"/>
            <a:ext cx="8242300" cy="2349500"/>
          </a:xfrm>
          <a:prstGeom prst="roundRect">
            <a:avLst>
              <a:gd name="adj" fmla="val 2973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6"/>
            <a:ext cx="8248650" cy="2355850"/>
          </a:xfrm>
          <a:prstGeom prst="roundRect">
            <a:avLst>
              <a:gd name="adj" fmla="val 3100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5975" y="4312289"/>
            <a:ext cx="2520950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5680" y="449199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整塊移動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95680" y="4819650"/>
            <a:ext cx="233807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按住區域內部拖曳，形狀不變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95675" y="4312289"/>
            <a:ext cx="2520950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75380" y="449199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調整形狀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75380" y="4819650"/>
            <a:ext cx="233807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拖曳區域的頂點（白色圓點）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5375" y="4312289"/>
            <a:ext cx="2520950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449199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改名、刪除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55080" y="4819650"/>
            <a:ext cx="2226386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在區域座標列表直接修改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855075" y="4312289"/>
            <a:ext cx="2520950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34780" y="449199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複製座標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034780" y="4819650"/>
            <a:ext cx="2226386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按「複製座標」，貼到其他地方使用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步驟 4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選擇偵測功能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92914"/>
            <a:ext cx="7340600" cy="2110740"/>
          </a:xfrm>
          <a:prstGeom prst="rect">
            <a:avLst/>
          </a:prstGeom>
          <a:solidFill>
            <a:srgbClr val="FDFEFF"/>
          </a:solidFill>
          <a:ln/>
        </p:spPr>
      </p:sp>
      <p:sp>
        <p:nvSpPr>
          <p:cNvPr id="5" name="Shape 3"/>
          <p:cNvSpPr/>
          <p:nvPr/>
        </p:nvSpPr>
        <p:spPr>
          <a:xfrm>
            <a:off x="8150225" y="1692914"/>
            <a:ext cx="0" cy="211074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3800479"/>
            <a:ext cx="73406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03074"/>
          <a:ext cx="7325360" cy="2095500"/>
        </p:xfrm>
        <a:graphic>
          <a:graphicData uri="http://schemas.openxmlformats.org/drawingml/2006/table">
            <a:tbl>
              <a:tblPr/>
              <a:tblGrid>
                <a:gridCol w="1465072"/>
                <a:gridCol w="2051101"/>
                <a:gridCol w="3809187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功能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要填的參數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說明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電子圍籬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進入時間（秒）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人員進入框選區域超過設定秒數即觸發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群聚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人數、進入時間（秒）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達到設定人數並持續設定秒數，視為群聚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偵測昏倒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不需參數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偵測畫面中有人昏倒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裝備偵測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要偵測的裝備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在彈出視窗勾選裝備（下一頁）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4010025"/>
            <a:ext cx="7334250" cy="880745"/>
          </a:xfrm>
          <a:prstGeom prst="roundRect">
            <a:avLst>
              <a:gd name="adj" fmla="val 9733"/>
            </a:avLst>
          </a:prstGeom>
          <a:solidFill>
            <a:srgbClr val="E8F0FE"/>
          </a:solidFill>
          <a:ln w="6350">
            <a:solidFill>
              <a:srgbClr val="C7D7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5680" y="4189729"/>
            <a:ext cx="71840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一個專案只選一項功能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5680" y="4471671"/>
            <a:ext cx="7184085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勾選一項後，其他三項會鎖住變灰；取消勾選才能改選其他功能。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5097146"/>
            <a:ext cx="756081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範圍與功能可以自由搭配，例如「全域＋偵測昏倒」或「區域＋電子圍籬」。</a:t>
            </a:r>
            <a:endParaRPr lang="en-US" sz="1300" dirty="0"/>
          </a:p>
        </p:txBody>
      </p:sp>
      <p:pic>
        <p:nvPicPr>
          <p:cNvPr id="12" name="Image 0" descr="右側專案設定面板：已勾選電子圍籬並填入進入時間 5 秒，其他功能鎖住">    </p:cNvPr>
          <p:cNvPicPr>
            <a:picLocks noChangeAspect="1"/>
          </p:cNvPicPr>
          <p:nvPr/>
        </p:nvPicPr>
        <p:blipFill>
          <a:blip r:embed="rId1"/>
          <a:srcRect l="0" r="0" t="-20" b="-20"/>
          <a:stretch/>
        </p:blipFill>
        <p:spPr>
          <a:xfrm>
            <a:off x="8566150" y="1699264"/>
            <a:ext cx="2806700" cy="4051300"/>
          </a:xfrm>
          <a:prstGeom prst="roundRect">
            <a:avLst>
              <a:gd name="adj" fmla="val 2489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13" name="Shape 9"/>
          <p:cNvSpPr/>
          <p:nvPr/>
        </p:nvSpPr>
        <p:spPr>
          <a:xfrm>
            <a:off x="8562975" y="1696089"/>
            <a:ext cx="2813050" cy="4057650"/>
          </a:xfrm>
          <a:prstGeom prst="roundRect">
            <a:avLst>
              <a:gd name="adj" fmla="val 2596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步驟 4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裝備偵測：選擇要偵測的裝備</a:t>
            </a:r>
            <a:endParaRPr lang="en-US" sz="3000" dirty="0"/>
          </a:p>
        </p:txBody>
      </p:sp>
      <p:pic>
        <p:nvPicPr>
          <p:cNvPr id="4" name="Image 0" descr="裝備選擇視窗：安全帽、反光背心、口罩、手套四項，已勾選安全帽與反光背心">    </p:cNvPr>
          <p:cNvPicPr>
            <a:picLocks noChangeAspect="1"/>
          </p:cNvPicPr>
          <p:nvPr/>
        </p:nvPicPr>
        <p:blipFill>
          <a:blip r:embed="rId1"/>
          <a:srcRect l="-111" r="-111" t="0" b="0"/>
          <a:stretch/>
        </p:blipFill>
        <p:spPr>
          <a:xfrm>
            <a:off x="819150" y="1699264"/>
            <a:ext cx="5067300" cy="3124200"/>
          </a:xfrm>
          <a:prstGeom prst="roundRect">
            <a:avLst>
              <a:gd name="adj" fmla="val 2236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9"/>
            <a:ext cx="5073650" cy="3130550"/>
          </a:xfrm>
          <a:prstGeom prst="roundRect">
            <a:avLst>
              <a:gd name="adj" fmla="val 2333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5975" y="4985389"/>
            <a:ext cx="5073650" cy="750570"/>
          </a:xfrm>
          <a:prstGeom prst="roundRect">
            <a:avLst>
              <a:gd name="adj" fmla="val 11421"/>
            </a:avLst>
          </a:prstGeom>
          <a:solidFill>
            <a:srgbClr val="E8F0FE"/>
          </a:solidFill>
          <a:ln w="6350">
            <a:solidFill>
              <a:srgbClr val="C7D7FB"/>
            </a:solidFill>
            <a:prstDash val="solid"/>
          </a:ln>
        </p:spPr>
        <p:txBody>
          <a:bodyPr wrap="square" lIns="154597" tIns="129197" rIns="13170" bIns="103797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2632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換成自己的照片：</a:t>
            </a:r>
            <a:r>
              <a:rPr lang="en-US" sz="1200" dirty="0">
                <a:solidFill>
                  <a:srgbClr val="2632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 helmet.png、vest.png、mask.png、gloves.png 放進 static/equipment/，重新整理網頁即可。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48400" y="169291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54800" y="1692914"/>
            <a:ext cx="486613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勾選「裝備偵測」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54800" y="1995171"/>
            <a:ext cx="4866132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會自動跳出裝備選擇視窗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48400" y="2386967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54800" y="2386967"/>
            <a:ext cx="486613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勾選裝備，按「確定」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54800" y="2689225"/>
            <a:ext cx="4866132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可選安全帽、反光背心、口罩、手套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48400" y="30810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8FA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54800" y="3081021"/>
            <a:ext cx="486613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確認已選的裝備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54800" y="3383279"/>
            <a:ext cx="4866132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以小圖顯示在表單；要修改按「選擇裝備…」</a:t>
            </a:r>
            <a:endParaRPr lang="en-US" sz="1300" dirty="0"/>
          </a:p>
        </p:txBody>
      </p:sp>
      <p:pic>
        <p:nvPicPr>
          <p:cNvPr id="16" name="Image 1" descr="表單中的裝備偵測：顯示已選的安全帽與反光背心小圖，以及選擇裝備按鈕">    </p:cNvPr>
          <p:cNvPicPr>
            <a:picLocks noChangeAspect="1"/>
          </p:cNvPicPr>
          <p:nvPr/>
        </p:nvPicPr>
        <p:blipFill>
          <a:blip r:embed="rId2"/>
          <a:srcRect l="-102" r="-102" t="0" b="0"/>
          <a:stretch/>
        </p:blipFill>
        <p:spPr>
          <a:xfrm>
            <a:off x="6254750" y="3781425"/>
            <a:ext cx="2400300" cy="1866900"/>
          </a:xfrm>
          <a:prstGeom prst="roundRect">
            <a:avLst>
              <a:gd name="adj" fmla="val 3741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17" name="Shape 13"/>
          <p:cNvSpPr/>
          <p:nvPr/>
        </p:nvSpPr>
        <p:spPr>
          <a:xfrm>
            <a:off x="6251575" y="3778250"/>
            <a:ext cx="2406650" cy="1873250"/>
          </a:xfrm>
          <a:prstGeom prst="roundRect">
            <a:avLst>
              <a:gd name="adj" fmla="val 3898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步驟 5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設定時段並儲存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696089"/>
            <a:ext cx="3414157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875792"/>
            <a:ext cx="314638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專案名稱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203450"/>
            <a:ext cx="314638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必填，會顯示在已儲存專案列表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82" y="1696089"/>
            <a:ext cx="3414236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8587" y="1875792"/>
            <a:ext cx="314647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偵測時段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68587" y="2203450"/>
            <a:ext cx="3146471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每天的開始與結束時間；結束早於開始代表跨夜，例如 22:00 至 06:00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68" y="1696089"/>
            <a:ext cx="3414157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1574" y="1875792"/>
            <a:ext cx="314638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儲存專案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41574" y="2203450"/>
            <a:ext cx="3146389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按「儲存專案」，成功時右下角會顯示「專案已建立」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119121"/>
            <a:ext cx="108833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儲存時常見的提醒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" y="3484879"/>
            <a:ext cx="10566400" cy="2110740"/>
          </a:xfrm>
          <a:prstGeom prst="rect">
            <a:avLst/>
          </a:prstGeom>
          <a:solidFill>
            <a:srgbClr val="FDFE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76025" y="3484879"/>
            <a:ext cx="0" cy="211074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800" y="5592444"/>
            <a:ext cx="105664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95039"/>
          <a:ext cx="10551160" cy="2095500"/>
        </p:xfrm>
        <a:graphic>
          <a:graphicData uri="http://schemas.openxmlformats.org/drawingml/2006/table">
            <a:tbl>
              <a:tblPr/>
              <a:tblGrid>
                <a:gridCol w="6330696"/>
                <a:gridCol w="4220464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畫面上的訊息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怎麼處理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還有未完成的區域，請按「完成區域」或「取消繪製」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把正在畫的區域完成或取消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偵測範圍為「區域」時，請至少框選一個區域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框一個區域，或改選「全域」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請先按「讀取畫面」擷取 RTSP 畫面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先讀取畫面再儲存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請至少選擇一項要偵測的裝備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在裝備視窗勾選至少一項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管理與資料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管理已儲存專案</a:t>
            </a:r>
            <a:endParaRPr lang="en-US" sz="3000" dirty="0"/>
          </a:p>
        </p:txBody>
      </p:sp>
      <p:pic>
        <p:nvPicPr>
          <p:cNvPr id="4" name="Image 0" descr="已儲存專案列表：四個專案的名稱、RTSP、功能、區域、偵測時段與編輯、下載 JSON、刪除按鈕">    </p:cNvPr>
          <p:cNvPicPr>
            <a:picLocks noChangeAspect="1"/>
          </p:cNvPicPr>
          <p:nvPr/>
        </p:nvPicPr>
        <p:blipFill>
          <a:blip r:embed="rId1"/>
          <a:srcRect l="-199" r="-199" t="0" b="0"/>
          <a:stretch/>
        </p:blipFill>
        <p:spPr>
          <a:xfrm>
            <a:off x="819150" y="1699264"/>
            <a:ext cx="10553700" cy="2203450"/>
          </a:xfrm>
          <a:prstGeom prst="roundRect">
            <a:avLst>
              <a:gd name="adj" fmla="val 3170"/>
            </a:avLst>
          </a:prstGeom>
          <a:effectLst>
            <a:outerShdw sx="100000" sy="100000" kx="0" ky="0" algn="bl" rotWithShape="0" blurRad="203200" dist="76200" dir="5400000">
              <a:srgbClr val="121A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9"/>
            <a:ext cx="10560050" cy="2209800"/>
          </a:xfrm>
          <a:prstGeom prst="roundRect">
            <a:avLst>
              <a:gd name="adj" fmla="val 3305"/>
            </a:avLst>
          </a:prstGeom>
          <a:noFill/>
          <a:ln w="6350">
            <a:solidFill>
              <a:srgbClr val="CBD3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5975" y="4166239"/>
            <a:ext cx="2520950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5680" y="434594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編輯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95680" y="4673600"/>
            <a:ext cx="2226386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把專案載入上方表單，修改後按「儲存專案」更新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95675" y="4166239"/>
            <a:ext cx="2520950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75380" y="434594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下載 JSON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75380" y="4673600"/>
            <a:ext cx="2226386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下載這個專案的設定檔，以專案名稱命名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5375" y="4166239"/>
            <a:ext cx="2520950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434594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231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刪除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55080" y="4673600"/>
            <a:ext cx="2226386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永久刪除專案與畫面，無法復原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855075" y="4166239"/>
            <a:ext cx="2520950" cy="1165860"/>
          </a:xfrm>
          <a:prstGeom prst="roundRect">
            <a:avLst>
              <a:gd name="adj" fmla="val 8442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34780" y="434594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＋ 新增專案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034780" y="4673600"/>
            <a:ext cx="2226386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右上角按鈕，清空表單設定下一支攝影機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3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管理與資料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5207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934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存出的資料</a:t>
            </a:r>
            <a:endParaRPr lang="en-US" sz="2934" dirty="0"/>
          </a:p>
        </p:txBody>
      </p:sp>
      <p:sp>
        <p:nvSpPr>
          <p:cNvPr id="4" name="Text 2"/>
          <p:cNvSpPr/>
          <p:nvPr/>
        </p:nvSpPr>
        <p:spPr>
          <a:xfrm>
            <a:off x="812800" y="1675848"/>
            <a:ext cx="39243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存放位置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016206"/>
            <a:ext cx="392430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21A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data/projects/{專案ID}.json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13384"/>
            <a:ext cx="392430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專案設定（下方範例）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610563"/>
            <a:ext cx="392430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21A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data/images/{專案ID}.jpg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07748"/>
            <a:ext cx="392430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擷取的 960×540 畫面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3281127"/>
            <a:ext cx="3810000" cy="2118360"/>
          </a:xfrm>
          <a:prstGeom prst="rect">
            <a:avLst/>
          </a:prstGeom>
          <a:solidFill>
            <a:srgbClr val="FDFE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19625" y="3281127"/>
            <a:ext cx="0" cy="211836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800" y="5396312"/>
            <a:ext cx="381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287"/>
          <a:ext cx="3794760" cy="210312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檔案裡的代號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意思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fence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電子圍籬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crowd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群聚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fall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偵測昏倒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equipment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裝備偵測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global／region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全域／區域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12800" y="5551884"/>
            <a:ext cx="39243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裝備代號：helmet 安全帽、vest 反光背心、mask 口罩、gloves 手套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78400" y="1675848"/>
            <a:ext cx="6400800" cy="3550920"/>
          </a:xfrm>
          <a:prstGeom prst="roundRect">
            <a:avLst>
              <a:gd name="adj" fmla="val 2861"/>
            </a:avLst>
          </a:prstGeom>
          <a:solidFill>
            <a:srgbClr val="121A2B"/>
          </a:solidFill>
          <a:ln/>
        </p:spPr>
        <p:txBody>
          <a:bodyPr wrap="square" lIns="224242" tIns="198842" rIns="47458" bIns="1734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"project_name"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"A 廠倉庫",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"rtsp"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"rtsp://admin:****@192.168.1.20:554/stream1",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"function"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"fence",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"scope"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"region",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"regions"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{ 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"name"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"警戒區",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"points"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[[350,299],[609,299],[689,450],[270,450]]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],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"detection_time"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{ 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"start"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"08:00", 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"end"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"18:00" },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"fence"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{ 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"enter_seconds"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5 },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"crowd"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null,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93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"equipment"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[]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78400" y="5328363"/>
            <a:ext cx="6592824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另含 id、image、created_at、updated_at 等欄位。座標都以 960×540 為準。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管理與資料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602"/>
            <a:ext cx="10883392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進階：在程式中讀取（DataFrame）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92356"/>
            <a:ext cx="5900976" cy="2223214"/>
          </a:xfrm>
          <a:prstGeom prst="roundRect">
            <a:avLst>
              <a:gd name="adj" fmla="val 4570"/>
            </a:avLst>
          </a:prstGeom>
          <a:solidFill>
            <a:srgbClr val="121A2B"/>
          </a:solidFill>
          <a:ln/>
        </p:spPr>
        <p:txBody>
          <a:bodyPr wrap="square" lIns="224242" tIns="198842" rIns="62453" bIns="1734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5C6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project_data </a:t>
            </a:r>
            <a:r>
              <a:rPr lang="en-US" sz="1200" dirty="0">
                <a:solidFill>
                  <a:srgbClr val="F5C6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load_projects_df, load_regions_df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projects = load_projects_df()   </a:t>
            </a:r>
            <a:r>
              <a:rPr lang="en-US" sz="1200" dirty="0">
                <a:solidFill>
                  <a:srgbClr val="8B98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一個專案一列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regions = load_regions_df()     </a:t>
            </a:r>
            <a:r>
              <a:rPr lang="en-US" sz="1200" dirty="0">
                <a:solidFill>
                  <a:srgbClr val="8B98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一個區域一列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fences = projects[projects.function == "fence"]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5C6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 </a:t>
            </a:r>
            <a:r>
              <a:rPr lang="en-US" sz="1200" dirty="0">
                <a:solidFill>
                  <a:srgbClr val="F5C6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regions.itertuples():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print(r.project_name, r.region_name, r.points)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70950" y="1695531"/>
            <a:ext cx="4405075" cy="2216864"/>
          </a:xfrm>
          <a:prstGeom prst="roundRect">
            <a:avLst>
              <a:gd name="adj" fmla="val 4440"/>
            </a:avLst>
          </a:prstGeom>
          <a:solidFill>
            <a:srgbClr val="FDFEFF"/>
          </a:solidFill>
          <a:ln w="635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6056" y="1900634"/>
            <a:ext cx="411471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匯出成 CSV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6056" y="2253698"/>
            <a:ext cx="3994864" cy="373380"/>
          </a:xfrm>
          <a:prstGeom prst="roundRect">
            <a:avLst>
              <a:gd name="adj" fmla="val 17007"/>
            </a:avLst>
          </a:prstGeom>
          <a:solidFill>
            <a:srgbClr val="E8EDF5"/>
          </a:solidFill>
          <a:ln/>
        </p:spPr>
        <p:txBody>
          <a:bodyPr wrap="square" lIns="95701" tIns="57601" rIns="0" bIns="32201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21A2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project_data.py --csv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76056" y="2715977"/>
            <a:ext cx="411471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產生 data/projects.csv 與 data/regions.csv，Excel 可直接開啟。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6056" y="3246834"/>
            <a:ext cx="411471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不加 --csv 則只在畫面上預覽。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4169569"/>
            <a:ext cx="10883392" cy="256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regions 的內容：一個區域一列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476669"/>
            <a:ext cx="10566400" cy="1416129"/>
          </a:xfrm>
          <a:prstGeom prst="rect">
            <a:avLst/>
          </a:prstGeom>
          <a:solidFill>
            <a:srgbClr val="FDFE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76025" y="4476669"/>
            <a:ext cx="0" cy="1416129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" y="5889624"/>
            <a:ext cx="105664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486829"/>
          <a:ext cx="10551160" cy="1402080"/>
        </p:xfrm>
        <a:graphic>
          <a:graphicData uri="http://schemas.openxmlformats.org/drawingml/2006/table">
            <a:tbl>
              <a:tblPr/>
              <a:tblGrid>
                <a:gridCol w="1899209"/>
                <a:gridCol w="1477162"/>
                <a:gridCol w="1688186"/>
                <a:gridCol w="5486603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project_name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function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region_name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points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 廠倉庫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fence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警戒區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[[350,299],[609,299],[689,450],[270,450]]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 廠倉庫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fence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卸貨口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[[395,84],[564,84],[564,214],[395,214]]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宿舍走廊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fall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全域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[[0,0],[960,0],[960,540],[0,540]]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疑難排解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21A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常見問題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92914"/>
            <a:ext cx="10566400" cy="2682240"/>
          </a:xfrm>
          <a:prstGeom prst="rect">
            <a:avLst/>
          </a:prstGeom>
          <a:solidFill>
            <a:srgbClr val="FDFEFF"/>
          </a:solidFill>
          <a:ln/>
        </p:spPr>
      </p:sp>
      <p:sp>
        <p:nvSpPr>
          <p:cNvPr id="5" name="Shape 3"/>
          <p:cNvSpPr/>
          <p:nvPr/>
        </p:nvSpPr>
        <p:spPr>
          <a:xfrm>
            <a:off x="11376025" y="1692914"/>
            <a:ext cx="0" cy="268224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4371979"/>
            <a:ext cx="105664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03074"/>
          <a:ext cx="10551160" cy="2667000"/>
        </p:xfrm>
        <a:graphic>
          <a:graphicData uri="http://schemas.openxmlformats.org/drawingml/2006/table">
            <a:tbl>
              <a:tblPr/>
              <a:tblGrid>
                <a:gridCol w="3587394"/>
                <a:gridCol w="6963766"/>
              </a:tblGrid>
              <a:tr h="4445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狀況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解決方式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雙擊 run.bat 沒反應、視窗一閃就關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在檔案總管雙擊（在 VS Code 點只會打開檔案）；視窗停住時，看裡面的錯誤訊息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網頁打不開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確認黑色視窗還開著，網址是 http://127.0.0.1:8010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按「讀取畫面」失敗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確認 RTSP 網址、帳號密碼，以及這台電腦連得到攝影機；可先用 VLC 播放測試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畫面或功能沒有更新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按 Ctrl+F5 強制重新整理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其他電腦連不到（Linux）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A2B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用 HOST=0.0.0.0 ./run.sh 啟動，並開放防火牆 8010 埠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4632325"/>
            <a:ext cx="10560050" cy="562610"/>
          </a:xfrm>
          <a:prstGeom prst="roundRect">
            <a:avLst>
              <a:gd name="adj" fmla="val 15237"/>
            </a:avLst>
          </a:prstGeom>
          <a:solidFill>
            <a:srgbClr val="E8F0FE"/>
          </a:solidFill>
          <a:ln w="6350">
            <a:solidFill>
              <a:srgbClr val="C7D7FB"/>
            </a:solidFill>
            <a:prstDash val="solid"/>
          </a:ln>
        </p:spPr>
      </p:sp>
      <p:pic>
        <p:nvPicPr>
          <p:cNvPr id="9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4786629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2080" y="4789804"/>
            <a:ext cx="100619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還是不行？把黑色視窗裡的錯誤訊息，或網頁右下角的提示截圖，交給負責人員。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5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儲存前檢查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4F6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五項都確認，設定就完成了</a:t>
            </a:r>
            <a:endParaRPr lang="en-US" sz="3000" dirty="0"/>
          </a:p>
        </p:txBody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43708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0000" y="1753877"/>
            <a:ext cx="38091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RTSP 畫面已讀取，是正確的攝影機</a:t>
            </a:r>
            <a:endParaRPr lang="en-US" sz="1600" dirty="0"/>
          </a:p>
        </p:txBody>
      </p:sp>
      <p:pic>
        <p:nvPicPr>
          <p:cNvPr id="6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226308"/>
            <a:ext cx="304800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00" y="2236477"/>
            <a:ext cx="31699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偵測範圍選對了：全域或區域</a:t>
            </a:r>
            <a:endParaRPr lang="en-US" sz="1600" dirty="0"/>
          </a:p>
        </p:txBody>
      </p:sp>
      <p:pic>
        <p:nvPicPr>
          <p:cNvPr id="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708908"/>
            <a:ext cx="304800" cy="30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0000" y="2719077"/>
            <a:ext cx="41452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區域模式下，每個區域都已完成並命名</a:t>
            </a:r>
            <a:endParaRPr lang="en-US" sz="1600" dirty="0"/>
          </a:p>
        </p:txBody>
      </p:sp>
      <p:pic>
        <p:nvPicPr>
          <p:cNvPr id="10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191508"/>
            <a:ext cx="304800" cy="304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0000" y="3201677"/>
            <a:ext cx="39014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偵測功能與參數、偵測時段都已設定</a:t>
            </a:r>
            <a:endParaRPr lang="en-US" sz="1600" dirty="0"/>
          </a:p>
        </p:txBody>
      </p:sp>
      <p:pic>
        <p:nvPicPr>
          <p:cNvPr id="12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3674108"/>
            <a:ext cx="304800" cy="3048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70000" y="3684277"/>
            <a:ext cx="47548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已按「儲存專案」，並出現在已儲存專案列表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812800" y="6238242"/>
            <a:ext cx="2984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NO_CODE 偵測設定平台 · 使用手冊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1159172" y="6238242"/>
            <a:ext cx="22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_CODE 偵測設定平台 使用手冊">
  <a:themeElements>
    <a:clrScheme name="NO_CODE 偵測設定平台 使用手冊">
      <a:dk1>
        <a:srgbClr val="121A2B"/>
      </a:dk1>
      <a:lt1>
        <a:srgbClr val="F4F6FA"/>
      </a:lt1>
      <a:dk2>
        <a:srgbClr val="4B515F"/>
      </a:dk2>
      <a:lt2>
        <a:srgbClr val="DDE0E5"/>
      </a:lt2>
      <a:accent1>
        <a:srgbClr val="2563EB"/>
      </a:accent1>
      <a:accent2>
        <a:srgbClr val="F5A524"/>
      </a:accent2>
      <a:accent3>
        <a:srgbClr val="1E3A8A"/>
      </a:accent3>
      <a:accent4>
        <a:srgbClr val="5C4210"/>
      </a:accent4>
      <a:accent5>
        <a:srgbClr val="B42318"/>
      </a:accent5>
      <a:accent6>
        <a:srgbClr val="4A5568"/>
      </a:accent6>
      <a:hlink>
        <a:srgbClr val="0563C1"/>
      </a:hlink>
      <a:folHlink>
        <a:srgbClr val="954F72"/>
      </a:folHlink>
    </a:clrScheme>
    <a:fontScheme name="NO_CODE 偵測設定平台 使用手冊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NO_CODE 偵測設定平台 使用手冊</dc:title>
  <dc:subject/>
  <dc:creator/>
  <cp:lastModifiedBy/>
  <cp:revision>1</cp:revision>
  <dcterms:created xsi:type="dcterms:W3CDTF">2026-10-19T15:16:14Z</dcterms:created>
  <dcterms:modified xsi:type="dcterms:W3CDTF">2026-10-19T15:16:14Z</dcterms:modified>
</cp:coreProperties>
</file>